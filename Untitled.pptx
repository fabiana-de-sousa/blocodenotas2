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4630400" cy="8229600"/>
  <p:notesSz cx="8229600" cy="14630400"/>
  <p:embeddedFontLst>
    <p:embeddedFont>
      <p:font typeface="Nunito Semi Bold"/>
      <p:regular r:id="rId8"/>
    </p:embeddedFont>
    <p:embeddedFont>
      <p:font typeface="Nunito Semi Bold"/>
      <p:regular r:id="rId9"/>
    </p:embeddedFont>
    <p:embeddedFont>
      <p:font typeface="Nunito Semi Bold"/>
      <p:regular r:id="rId10"/>
    </p:embeddedFont>
    <p:embeddedFont>
      <p:font typeface="Nunito Semi Bold"/>
      <p:regular r:id="rId11"/>
    </p:embeddedFont>
    <p:embeddedFont>
      <p:font typeface="PT Sans"/>
      <p:regular r:id="rId12"/>
    </p:embeddedFont>
    <p:embeddedFont>
      <p:font typeface="PT Sans"/>
      <p:regular r:id="rId13"/>
    </p:embeddedFont>
    <p:embeddedFont>
      <p:font typeface="PT Sans"/>
      <p:regular r:id="rId14"/>
    </p:embeddedFont>
    <p:embeddedFont>
      <p:font typeface="PT Sans"/>
      <p:regular r:id="rId15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openxmlformats.org/officeDocument/2006/relationships/font" Target="fonts/font1.fntdata"/><Relationship Id="rId9" Type="http://schemas.openxmlformats.org/officeDocument/2006/relationships/font" Target="fonts/font2.fntdata"/><Relationship Id="rId10" Type="http://schemas.openxmlformats.org/officeDocument/2006/relationships/font" Target="fonts/font3.fntdata"/><Relationship Id="rId11" Type="http://schemas.openxmlformats.org/officeDocument/2006/relationships/font" Target="fonts/font4.fntdata"/><Relationship Id="rId12" Type="http://schemas.openxmlformats.org/officeDocument/2006/relationships/font" Target="fonts/font5.fntdata"/><Relationship Id="rId13" Type="http://schemas.openxmlformats.org/officeDocument/2006/relationships/font" Target="fonts/font6.fntdata"/><Relationship Id="rId14" Type="http://schemas.openxmlformats.org/officeDocument/2006/relationships/font" Target="fonts/font7.fntdata"/><Relationship Id="rId15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F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8862" y="329089"/>
            <a:ext cx="3648670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Minha Trajetória Profissional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18862" y="920353"/>
            <a:ext cx="13792676" cy="1914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Uma jornada de crescimento contínuo, liderança estratégica e transformação digital em telecomunicações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8862" y="1291233"/>
            <a:ext cx="4007644" cy="281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Formação e Desenvolvimento Contínuo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7307580" y="1752243"/>
            <a:ext cx="15240" cy="3573661"/>
          </a:xfrm>
          <a:prstGeom prst="roundRect">
            <a:avLst>
              <a:gd name="adj" fmla="val 1178058"/>
            </a:avLst>
          </a:prstGeom>
          <a:solidFill>
            <a:srgbClr val="000000">
              <a:alpha val="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6836866" y="1879163"/>
            <a:ext cx="358973" cy="15240"/>
          </a:xfrm>
          <a:prstGeom prst="roundRect">
            <a:avLst>
              <a:gd name="adj" fmla="val 1178058"/>
            </a:avLst>
          </a:prstGeom>
          <a:solidFill>
            <a:srgbClr val="2D4DF2"/>
          </a:solidFill>
          <a:ln/>
        </p:spPr>
      </p:sp>
      <p:sp>
        <p:nvSpPr>
          <p:cNvPr id="7" name="Shape 5"/>
          <p:cNvSpPr/>
          <p:nvPr/>
        </p:nvSpPr>
        <p:spPr>
          <a:xfrm>
            <a:off x="7180600" y="1752243"/>
            <a:ext cx="269200" cy="269200"/>
          </a:xfrm>
          <a:prstGeom prst="roundRect">
            <a:avLst>
              <a:gd name="adj" fmla="val 66692"/>
            </a:avLst>
          </a:prstGeom>
          <a:solidFill>
            <a:srgbClr val="F3F3FF"/>
          </a:solidFill>
          <a:ln w="7620">
            <a:solidFill>
              <a:srgbClr val="2D4DF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230666" y="1781175"/>
            <a:ext cx="168950" cy="2112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3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308759" y="1793319"/>
            <a:ext cx="1408033" cy="1759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2012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8862" y="2041088"/>
            <a:ext cx="6297930" cy="1914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500"/>
              </a:lnSpc>
              <a:buNone/>
            </a:pPr>
            <a:r>
              <a:rPr lang="en-US" sz="900" b="1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Graduação em Recursos Humanos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18862" y="2304336"/>
            <a:ext cx="6297930" cy="1914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500"/>
              </a:lnSpc>
              <a:buNone/>
            </a:pPr>
            <a:r>
              <a:rPr lang="en-US" sz="9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Fundação sólida em gestão de pessoas e desenvolvimento organizacional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7434560" y="2597229"/>
            <a:ext cx="358973" cy="15240"/>
          </a:xfrm>
          <a:prstGeom prst="roundRect">
            <a:avLst>
              <a:gd name="adj" fmla="val 1178058"/>
            </a:avLst>
          </a:prstGeom>
          <a:solidFill>
            <a:srgbClr val="018CE1"/>
          </a:solidFill>
          <a:ln/>
        </p:spPr>
      </p:sp>
      <p:sp>
        <p:nvSpPr>
          <p:cNvPr id="13" name="Shape 11"/>
          <p:cNvSpPr/>
          <p:nvPr/>
        </p:nvSpPr>
        <p:spPr>
          <a:xfrm>
            <a:off x="7180600" y="2470309"/>
            <a:ext cx="269200" cy="269200"/>
          </a:xfrm>
          <a:prstGeom prst="roundRect">
            <a:avLst>
              <a:gd name="adj" fmla="val 66692"/>
            </a:avLst>
          </a:prstGeom>
          <a:solidFill>
            <a:srgbClr val="F3F3FF"/>
          </a:solidFill>
          <a:ln w="7620">
            <a:solidFill>
              <a:srgbClr val="018C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230666" y="2499241"/>
            <a:ext cx="168950" cy="2112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3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913608" y="2511385"/>
            <a:ext cx="1408033" cy="1759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2016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913608" y="2759154"/>
            <a:ext cx="6297930" cy="1914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00" b="1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Graduação em Administração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913608" y="3022402"/>
            <a:ext cx="6297930" cy="1914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Ampliação da visão estratégica e competências gerenciais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836866" y="3216116"/>
            <a:ext cx="358973" cy="15240"/>
          </a:xfrm>
          <a:prstGeom prst="roundRect">
            <a:avLst>
              <a:gd name="adj" fmla="val 1178058"/>
            </a:avLst>
          </a:prstGeom>
          <a:solidFill>
            <a:srgbClr val="DA33BF"/>
          </a:solidFill>
          <a:ln/>
        </p:spPr>
      </p:sp>
      <p:sp>
        <p:nvSpPr>
          <p:cNvPr id="19" name="Shape 17"/>
          <p:cNvSpPr/>
          <p:nvPr/>
        </p:nvSpPr>
        <p:spPr>
          <a:xfrm>
            <a:off x="7180600" y="3089196"/>
            <a:ext cx="269200" cy="269200"/>
          </a:xfrm>
          <a:prstGeom prst="roundRect">
            <a:avLst>
              <a:gd name="adj" fmla="val 66692"/>
            </a:avLst>
          </a:prstGeom>
          <a:solidFill>
            <a:srgbClr val="F3F3FF"/>
          </a:solidFill>
          <a:ln w="7620">
            <a:solidFill>
              <a:srgbClr val="DA33B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230666" y="3118128"/>
            <a:ext cx="168950" cy="2112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3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308759" y="3130272"/>
            <a:ext cx="1408033" cy="1759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2022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18862" y="3378041"/>
            <a:ext cx="6297930" cy="1914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500"/>
              </a:lnSpc>
              <a:buNone/>
            </a:pPr>
            <a:r>
              <a:rPr lang="en-US" sz="900" b="1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MBA em Gestão de Projetos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18862" y="3641288"/>
            <a:ext cx="6297930" cy="1914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500"/>
              </a:lnSpc>
              <a:buNone/>
            </a:pPr>
            <a:r>
              <a:rPr lang="en-US" sz="9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Especialização em metodologias ágeis e gestão estratégica de portfólios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434560" y="3835122"/>
            <a:ext cx="358973" cy="15240"/>
          </a:xfrm>
          <a:prstGeom prst="roundRect">
            <a:avLst>
              <a:gd name="adj" fmla="val 1178058"/>
            </a:avLst>
          </a:prstGeom>
          <a:solidFill>
            <a:srgbClr val="2D4DF2"/>
          </a:solidFill>
          <a:ln/>
        </p:spPr>
      </p:sp>
      <p:sp>
        <p:nvSpPr>
          <p:cNvPr id="25" name="Shape 23"/>
          <p:cNvSpPr/>
          <p:nvPr/>
        </p:nvSpPr>
        <p:spPr>
          <a:xfrm>
            <a:off x="7180600" y="3708202"/>
            <a:ext cx="269200" cy="269200"/>
          </a:xfrm>
          <a:prstGeom prst="roundRect">
            <a:avLst>
              <a:gd name="adj" fmla="val 66692"/>
            </a:avLst>
          </a:prstGeom>
          <a:solidFill>
            <a:srgbClr val="F3F3FF"/>
          </a:solidFill>
          <a:ln w="7620">
            <a:solidFill>
              <a:srgbClr val="2D4DF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230666" y="3737134"/>
            <a:ext cx="168950" cy="2112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3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4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913608" y="3749278"/>
            <a:ext cx="1408033" cy="1759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2023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913608" y="3997047"/>
            <a:ext cx="6297930" cy="1914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00" b="1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Certificação PSM I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913608" y="4260294"/>
            <a:ext cx="6297930" cy="1914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Professional Scrum Master - domínio de frameworks ágeis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836866" y="4454128"/>
            <a:ext cx="358973" cy="15240"/>
          </a:xfrm>
          <a:prstGeom prst="roundRect">
            <a:avLst>
              <a:gd name="adj" fmla="val 1178058"/>
            </a:avLst>
          </a:prstGeom>
          <a:solidFill>
            <a:srgbClr val="018CE1"/>
          </a:solidFill>
          <a:ln/>
        </p:spPr>
      </p:sp>
      <p:sp>
        <p:nvSpPr>
          <p:cNvPr id="31" name="Shape 29"/>
          <p:cNvSpPr/>
          <p:nvPr/>
        </p:nvSpPr>
        <p:spPr>
          <a:xfrm>
            <a:off x="7180600" y="4327208"/>
            <a:ext cx="269200" cy="269200"/>
          </a:xfrm>
          <a:prstGeom prst="roundRect">
            <a:avLst>
              <a:gd name="adj" fmla="val 66692"/>
            </a:avLst>
          </a:prstGeom>
          <a:solidFill>
            <a:srgbClr val="F3F3FF"/>
          </a:solidFill>
          <a:ln w="7620">
            <a:solidFill>
              <a:srgbClr val="018C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230666" y="4356140"/>
            <a:ext cx="168950" cy="2112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3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5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308759" y="4368284"/>
            <a:ext cx="1408033" cy="1759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2025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18862" y="4616053"/>
            <a:ext cx="6297930" cy="1914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500"/>
              </a:lnSpc>
              <a:buNone/>
            </a:pPr>
            <a:r>
              <a:rPr lang="en-US" sz="900" b="1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Especialização em IA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18862" y="4879300"/>
            <a:ext cx="6297930" cy="1914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500"/>
              </a:lnSpc>
              <a:buNone/>
            </a:pPr>
            <a:r>
              <a:rPr lang="en-US" sz="9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Inovação e transformação digital com inteligência artificial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18862" y="5520252"/>
            <a:ext cx="13792676" cy="22503"/>
          </a:xfrm>
          <a:prstGeom prst="rect">
            <a:avLst/>
          </a:prstGeom>
          <a:solidFill>
            <a:srgbClr val="00002E">
              <a:alpha val="50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418862" y="5722144"/>
            <a:ext cx="4502587" cy="281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Experiência Executiva em Telecomunicações</a:t>
            </a:r>
            <a:endParaRPr lang="en-US" sz="1750" dirty="0"/>
          </a:p>
        </p:txBody>
      </p:sp>
      <p:sp>
        <p:nvSpPr>
          <p:cNvPr id="38" name="Shape 36"/>
          <p:cNvSpPr/>
          <p:nvPr/>
        </p:nvSpPr>
        <p:spPr>
          <a:xfrm>
            <a:off x="7307580" y="6183154"/>
            <a:ext cx="15240" cy="6528911"/>
          </a:xfrm>
          <a:prstGeom prst="roundRect">
            <a:avLst>
              <a:gd name="adj" fmla="val 1178058"/>
            </a:avLst>
          </a:prstGeom>
          <a:solidFill>
            <a:srgbClr val="2D4DF2"/>
          </a:solidFill>
          <a:ln/>
        </p:spPr>
      </p:sp>
      <p:sp>
        <p:nvSpPr>
          <p:cNvPr id="39" name="Shape 37"/>
          <p:cNvSpPr/>
          <p:nvPr/>
        </p:nvSpPr>
        <p:spPr>
          <a:xfrm>
            <a:off x="403622" y="6183154"/>
            <a:ext cx="6896338" cy="1183600"/>
          </a:xfrm>
          <a:prstGeom prst="roundRect">
            <a:avLst>
              <a:gd name="adj" fmla="val 15169"/>
            </a:avLst>
          </a:prstGeom>
          <a:solidFill>
            <a:srgbClr val="F3F3FF"/>
          </a:solidFill>
          <a:ln w="7620">
            <a:solidFill>
              <a:srgbClr val="2D4DF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475440" y="6310432"/>
            <a:ext cx="2704862" cy="2110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650"/>
              </a:lnSpc>
              <a:buNone/>
            </a:pPr>
            <a:r>
              <a:rPr lang="en-US" sz="13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VP Engenharia e Serviço ao Cliente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530900" y="6593324"/>
            <a:ext cx="6649403" cy="1914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500"/>
              </a:lnSpc>
              <a:buNone/>
            </a:pPr>
            <a:r>
              <a:rPr lang="en-US" sz="900" b="1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2016-2020 | Backbone IP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30900" y="6856571"/>
            <a:ext cx="6649403" cy="3829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500"/>
              </a:lnSpc>
              <a:buNone/>
            </a:pPr>
            <a:r>
              <a:rPr lang="en-US" sz="9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Liderança técnica e estratégica na gestão da infraestrutura de rede IP, garantindo excelência operacional e satisfação dos clientes corporativos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7330440" y="7606070"/>
            <a:ext cx="6896338" cy="1183600"/>
          </a:xfrm>
          <a:prstGeom prst="rect">
            <a:avLst/>
          </a:prstGeom>
          <a:solidFill>
            <a:srgbClr val="F3F3FF"/>
          </a:solidFill>
          <a:ln w="7620">
            <a:solidFill>
              <a:srgbClr val="018C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450098" y="7733348"/>
            <a:ext cx="2704862" cy="2110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3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VP Engenharia e Serviço ao Cliente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7450098" y="8016240"/>
            <a:ext cx="6649403" cy="1914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00" b="1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2020 | Backbone TX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7450098" y="8279487"/>
            <a:ext cx="6649403" cy="3829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Responsável pelos projetos críticos de ativação de circuitos de transmissão, otimizando processos e reduzindo tempo de implementação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03622" y="9028986"/>
            <a:ext cx="6896338" cy="1721882"/>
          </a:xfrm>
          <a:prstGeom prst="roundRect">
            <a:avLst>
              <a:gd name="adj" fmla="val 10427"/>
            </a:avLst>
          </a:prstGeom>
          <a:solidFill>
            <a:srgbClr val="F3F3FF"/>
          </a:solidFill>
          <a:ln w="7620">
            <a:solidFill>
              <a:srgbClr val="DA33B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486400" y="9156263"/>
            <a:ext cx="1693902" cy="2110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650"/>
              </a:lnSpc>
              <a:buNone/>
            </a:pPr>
            <a:r>
              <a:rPr lang="en-US" sz="13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Chief Financial Officer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530900" y="9439156"/>
            <a:ext cx="6649403" cy="1914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500"/>
              </a:lnSpc>
              <a:buNone/>
            </a:pPr>
            <a:r>
              <a:rPr lang="en-US" sz="900" b="1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2020-2022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530900" y="9702403"/>
            <a:ext cx="6649403" cy="1914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500"/>
              </a:lnSpc>
              <a:buNone/>
            </a:pPr>
            <a:r>
              <a:rPr lang="en-US" sz="9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Liderança de projetos estratégicos de transformação digital: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530900" y="9965650"/>
            <a:ext cx="6649403" cy="1914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500"/>
              </a:lnSpc>
              <a:buSzPct val="100000"/>
              <a:buChar char="•"/>
            </a:pPr>
            <a:r>
              <a:rPr lang="en-US" sz="900" b="1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SAP Commissions:</a:t>
            </a:r>
            <a:pPr algn="l" indent="0" marL="0">
              <a:lnSpc>
                <a:spcPts val="1500"/>
              </a:lnSpc>
              <a:buNone/>
            </a:pPr>
            <a:r>
              <a:rPr lang="en-US" sz="9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Implementação de sistema de comissionamento automatizado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530900" y="10198894"/>
            <a:ext cx="6649403" cy="1914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500"/>
              </a:lnSpc>
              <a:buSzPct val="100000"/>
              <a:buChar char="•"/>
            </a:pPr>
            <a:r>
              <a:rPr lang="en-US" sz="900" b="1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Portal de Atendimento:</a:t>
            </a:r>
            <a:pPr algn="l" indent="0" marL="0">
              <a:lnSpc>
                <a:spcPts val="1500"/>
              </a:lnSpc>
              <a:buNone/>
            </a:pPr>
            <a:r>
              <a:rPr lang="en-US" sz="9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Solução B2B para canais de vendas da Vivo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530900" y="10432137"/>
            <a:ext cx="6649403" cy="1914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500"/>
              </a:lnSpc>
              <a:buSzPct val="100000"/>
              <a:buChar char="•"/>
            </a:pPr>
            <a:r>
              <a:rPr lang="en-US" sz="900" b="1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Automação de Fluxo:</a:t>
            </a:r>
            <a:pPr algn="l" indent="0" marL="0">
              <a:lnSpc>
                <a:spcPts val="1500"/>
              </a:lnSpc>
              <a:buNone/>
            </a:pPr>
            <a:r>
              <a:rPr lang="en-US" sz="9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Digitalização e otimização do expediente corporativo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7330440" y="10990183"/>
            <a:ext cx="6896338" cy="1721882"/>
          </a:xfrm>
          <a:prstGeom prst="rect">
            <a:avLst/>
          </a:prstGeom>
          <a:solidFill>
            <a:srgbClr val="F3F3FF"/>
          </a:solidFill>
          <a:ln w="7620">
            <a:solidFill>
              <a:srgbClr val="2D4DF2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450098" y="11117461"/>
            <a:ext cx="1898094" cy="2110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3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Chief Information Officer</a:t>
            </a:r>
            <a:endParaRPr lang="en-US" sz="1300" dirty="0"/>
          </a:p>
        </p:txBody>
      </p:sp>
      <p:sp>
        <p:nvSpPr>
          <p:cNvPr id="56" name="Text 54"/>
          <p:cNvSpPr/>
          <p:nvPr/>
        </p:nvSpPr>
        <p:spPr>
          <a:xfrm>
            <a:off x="7450098" y="11400353"/>
            <a:ext cx="6649403" cy="1914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00" b="1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2022-Atual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7450098" y="11663601"/>
            <a:ext cx="6649403" cy="1914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Comando da estratégia de tecnologia e inovação com foco em: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7450098" y="11926848"/>
            <a:ext cx="6649403" cy="1914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500"/>
              </a:lnSpc>
              <a:buSzPct val="100000"/>
              <a:buChar char="•"/>
            </a:pPr>
            <a:r>
              <a:rPr lang="en-US" sz="900" b="1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Portal B2B:</a:t>
            </a:r>
            <a:pPr algn="l" indent="0" marL="0">
              <a:lnSpc>
                <a:spcPts val="1500"/>
              </a:lnSpc>
              <a:buNone/>
            </a:pPr>
            <a:r>
              <a:rPr lang="en-US" sz="9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Plataforma integrada para clientes corporativos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7450098" y="12160091"/>
            <a:ext cx="6649403" cy="1914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500"/>
              </a:lnSpc>
              <a:buSzPct val="100000"/>
              <a:buChar char="•"/>
            </a:pPr>
            <a:r>
              <a:rPr lang="en-US" sz="900" b="1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Nova MVNO:</a:t>
            </a:r>
            <a:pPr algn="l" indent="0" marL="0">
              <a:lnSpc>
                <a:spcPts val="1500"/>
              </a:lnSpc>
              <a:buNone/>
            </a:pPr>
            <a:r>
              <a:rPr lang="en-US" sz="9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Arquitetura tecnológica para operadora móvel virtual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7450098" y="12393335"/>
            <a:ext cx="6649403" cy="1914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500"/>
              </a:lnSpc>
              <a:buSzPct val="100000"/>
              <a:buChar char="•"/>
            </a:pPr>
            <a:r>
              <a:rPr lang="en-US" sz="900" b="1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Roaming Internacional:</a:t>
            </a:r>
            <a:pPr algn="l" indent="0" marL="0">
              <a:lnSpc>
                <a:spcPts val="1500"/>
              </a:lnSpc>
              <a:buNone/>
            </a:pPr>
            <a:r>
              <a:rPr lang="en-US" sz="9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Acordo Brasil-Chile expandindo conectividade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418862" y="12906413"/>
            <a:ext cx="13792676" cy="22503"/>
          </a:xfrm>
          <a:prstGeom prst="rect">
            <a:avLst/>
          </a:prstGeom>
          <a:solidFill>
            <a:srgbClr val="00002E">
              <a:alpha val="50000"/>
            </a:srgbClr>
          </a:solidFill>
          <a:ln/>
        </p:spPr>
      </p:sp>
      <p:sp>
        <p:nvSpPr>
          <p:cNvPr id="62" name="Text 60"/>
          <p:cNvSpPr/>
          <p:nvPr/>
        </p:nvSpPr>
        <p:spPr>
          <a:xfrm>
            <a:off x="418862" y="13108305"/>
            <a:ext cx="2605921" cy="281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Diferenciais Competitivos</a:t>
            </a:r>
            <a:endParaRPr lang="en-US" sz="1750" dirty="0"/>
          </a:p>
        </p:txBody>
      </p:sp>
      <p:sp>
        <p:nvSpPr>
          <p:cNvPr id="63" name="Text 61"/>
          <p:cNvSpPr/>
          <p:nvPr/>
        </p:nvSpPr>
        <p:spPr>
          <a:xfrm>
            <a:off x="418862" y="13688973"/>
            <a:ext cx="1408033" cy="1759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Visão Estratégica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418862" y="13984605"/>
            <a:ext cx="4355902" cy="3829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Capacidade comprovada de alinhar tecnologia aos objetivos de negócio, entregando resultados mensuráveis em projetos complexos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5074325" y="13688973"/>
            <a:ext cx="1675090" cy="1759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Liderança Transformadora</a:t>
            </a:r>
            <a:endParaRPr lang="en-US" sz="1100" dirty="0"/>
          </a:p>
        </p:txBody>
      </p:sp>
      <p:sp>
        <p:nvSpPr>
          <p:cNvPr id="66" name="Text 64"/>
          <p:cNvSpPr/>
          <p:nvPr/>
        </p:nvSpPr>
        <p:spPr>
          <a:xfrm>
            <a:off x="5074325" y="13984605"/>
            <a:ext cx="4355902" cy="3829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Experiência consolidada na gestão de equipes multidisciplinares e condução de mudanças organizacionais significativas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9729788" y="13688973"/>
            <a:ext cx="1408033" cy="1759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Inovação Contínua</a:t>
            </a:r>
            <a:endParaRPr lang="en-US" sz="1100" dirty="0"/>
          </a:p>
        </p:txBody>
      </p:sp>
      <p:sp>
        <p:nvSpPr>
          <p:cNvPr id="68" name="Text 66"/>
          <p:cNvSpPr/>
          <p:nvPr/>
        </p:nvSpPr>
        <p:spPr>
          <a:xfrm>
            <a:off x="9729788" y="13984605"/>
            <a:ext cx="4496753" cy="3829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Comprometimento com aprendizado constante, atualmente especializando-se em IA para impulsionar a próxima geração de soluções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418862" y="14669491"/>
            <a:ext cx="13792676" cy="22503"/>
          </a:xfrm>
          <a:prstGeom prst="rect">
            <a:avLst/>
          </a:prstGeom>
          <a:solidFill>
            <a:srgbClr val="00002E">
              <a:alpha val="50000"/>
            </a:srgbClr>
          </a:solidFill>
          <a:ln/>
        </p:spPr>
      </p:sp>
      <p:sp>
        <p:nvSpPr>
          <p:cNvPr id="70" name="Text 68"/>
          <p:cNvSpPr/>
          <p:nvPr/>
        </p:nvSpPr>
        <p:spPr>
          <a:xfrm>
            <a:off x="598289" y="14961037"/>
            <a:ext cx="13613249" cy="1914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"Uma trajetória de 20+ anos em telecomunicações, combinando excelência técnica, visão estratégica de negócios e liderança executiva comprovada. Pronto para liderar a próxima fase de transformação digital e inovação tecnológica."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418862" y="14826496"/>
            <a:ext cx="15240" cy="460534"/>
          </a:xfrm>
          <a:prstGeom prst="rect">
            <a:avLst/>
          </a:prstGeom>
          <a:solidFill>
            <a:srgbClr val="2D4DF2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2025-10-18T21:52:53Z</dcterms:created>
  <dcterms:modified xsi:type="dcterms:W3CDTF">2025-10-18T21:52:53Z</dcterms:modified>
</cp:coreProperties>
</file>